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ec7859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ec7859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9ec785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9ec785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6d7421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b6d7421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be05fda6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be05fda6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be05fda6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be05fda6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090807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c090807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Node Schematics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Souvik Halder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NODE BLOCK DIAGRAM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510475" y="1957000"/>
            <a:ext cx="1694700" cy="17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14"/>
          <p:cNvCxnSpPr/>
          <p:nvPr/>
        </p:nvCxnSpPr>
        <p:spPr>
          <a:xfrm flipH="1" rot="10800000">
            <a:off x="5895825" y="1614275"/>
            <a:ext cx="759000" cy="350100"/>
          </a:xfrm>
          <a:prstGeom prst="bentConnector3">
            <a:avLst>
              <a:gd fmla="val -2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/>
          <p:nvPr/>
        </p:nvSpPr>
        <p:spPr>
          <a:xfrm>
            <a:off x="1702775" y="1271675"/>
            <a:ext cx="2031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14"/>
          <p:cNvCxnSpPr>
            <a:stCxn id="63" idx="3"/>
          </p:cNvCxnSpPr>
          <p:nvPr/>
        </p:nvCxnSpPr>
        <p:spPr>
          <a:xfrm>
            <a:off x="3734375" y="1558025"/>
            <a:ext cx="1048500" cy="395700"/>
          </a:xfrm>
          <a:prstGeom prst="bentConnector3">
            <a:avLst>
              <a:gd fmla="val 9954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/>
          <p:nvPr/>
        </p:nvSpPr>
        <p:spPr>
          <a:xfrm>
            <a:off x="1702775" y="2230675"/>
            <a:ext cx="759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702775" y="2232000"/>
            <a:ext cx="75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CLOCK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BLOCK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2461775" y="2624895"/>
            <a:ext cx="7704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/>
          <p:nvPr/>
        </p:nvSpPr>
        <p:spPr>
          <a:xfrm>
            <a:off x="3179250" y="2235325"/>
            <a:ext cx="759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3232175" y="2339700"/>
            <a:ext cx="70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FREQ/2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3938258" y="2509038"/>
            <a:ext cx="56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 rot="-5400000">
            <a:off x="2370550" y="1941350"/>
            <a:ext cx="505800" cy="3351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/>
          <p:nvPr/>
        </p:nvSpPr>
        <p:spPr>
          <a:xfrm>
            <a:off x="2355375" y="3183025"/>
            <a:ext cx="759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2355375" y="3300013"/>
            <a:ext cx="75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GPS IC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74" name="Google Shape;74;p14"/>
          <p:cNvCxnSpPr>
            <a:stCxn id="73" idx="3"/>
          </p:cNvCxnSpPr>
          <p:nvPr/>
        </p:nvCxnSpPr>
        <p:spPr>
          <a:xfrm flipH="1" rot="10800000">
            <a:off x="3114375" y="3055663"/>
            <a:ext cx="1399500" cy="413700"/>
          </a:xfrm>
          <a:prstGeom prst="bentConnector3">
            <a:avLst>
              <a:gd fmla="val 1764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flipH="1">
            <a:off x="4031695" y="3020320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flipH="1">
            <a:off x="4189975" y="2473044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4"/>
          <p:cNvCxnSpPr/>
          <p:nvPr/>
        </p:nvCxnSpPr>
        <p:spPr>
          <a:xfrm flipH="1">
            <a:off x="4248300" y="152277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/>
          <p:nvPr/>
        </p:nvCxnSpPr>
        <p:spPr>
          <a:xfrm flipH="1">
            <a:off x="2730900" y="2096263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/>
          <p:nvPr/>
        </p:nvCxnSpPr>
        <p:spPr>
          <a:xfrm flipH="1">
            <a:off x="2883300" y="2605879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/>
          <p:nvPr/>
        </p:nvCxnSpPr>
        <p:spPr>
          <a:xfrm flipH="1">
            <a:off x="6287125" y="157902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4"/>
          <p:cNvSpPr txBox="1"/>
          <p:nvPr/>
        </p:nvSpPr>
        <p:spPr>
          <a:xfrm>
            <a:off x="1740300" y="1363399"/>
            <a:ext cx="208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RF transceiver - LR1120</a:t>
            </a:r>
            <a:endParaRPr sz="100"/>
          </a:p>
        </p:txBody>
      </p:sp>
      <p:sp>
        <p:nvSpPr>
          <p:cNvPr id="82" name="Google Shape;82;p14"/>
          <p:cNvSpPr/>
          <p:nvPr/>
        </p:nvSpPr>
        <p:spPr>
          <a:xfrm>
            <a:off x="6654825" y="1373375"/>
            <a:ext cx="7590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4980697" y="1127625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7732450" y="3371800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3963400" y="1329200"/>
            <a:ext cx="71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SPI(4), BUSY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029275" y="2281950"/>
            <a:ext cx="4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16MHz</a:t>
            </a:r>
            <a:r>
              <a:rPr lang="en" sz="600">
                <a:solidFill>
                  <a:schemeClr val="dk2"/>
                </a:solidFill>
              </a:rPr>
              <a:t>,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711702" y="2607854"/>
            <a:ext cx="4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32MHz</a:t>
            </a:r>
            <a:r>
              <a:rPr lang="en" sz="600">
                <a:solidFill>
                  <a:schemeClr val="dk2"/>
                </a:solidFill>
              </a:rPr>
              <a:t>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723000" y="3015184"/>
            <a:ext cx="71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UART(2), WAKEUP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415231" y="1945413"/>
            <a:ext cx="4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32MHz 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90" name="Google Shape;90;p14"/>
          <p:cNvCxnSpPr>
            <a:stCxn id="83" idx="2"/>
            <a:endCxn id="61" idx="0"/>
          </p:cNvCxnSpPr>
          <p:nvPr/>
        </p:nvCxnSpPr>
        <p:spPr>
          <a:xfrm flipH="1">
            <a:off x="5357797" y="1481625"/>
            <a:ext cx="2400" cy="4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4"/>
          <p:cNvCxnSpPr>
            <a:stCxn id="92" idx="1"/>
          </p:cNvCxnSpPr>
          <p:nvPr/>
        </p:nvCxnSpPr>
        <p:spPr>
          <a:xfrm flipH="1">
            <a:off x="6205248" y="2650050"/>
            <a:ext cx="15165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>
            <a:stCxn id="84" idx="1"/>
          </p:cNvCxnSpPr>
          <p:nvPr/>
        </p:nvCxnSpPr>
        <p:spPr>
          <a:xfrm rot="10800000">
            <a:off x="6197950" y="3548800"/>
            <a:ext cx="153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4"/>
          <p:cNvCxnSpPr/>
          <p:nvPr/>
        </p:nvCxnSpPr>
        <p:spPr>
          <a:xfrm flipH="1">
            <a:off x="5310250" y="1646250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4"/>
          <p:cNvSpPr txBox="1"/>
          <p:nvPr/>
        </p:nvSpPr>
        <p:spPr>
          <a:xfrm>
            <a:off x="4996412" y="1624059"/>
            <a:ext cx="4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I2C(2)</a:t>
            </a:r>
            <a:r>
              <a:rPr lang="en" sz="600">
                <a:solidFill>
                  <a:schemeClr val="dk2"/>
                </a:solidFill>
              </a:rPr>
              <a:t>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980700" y="1058325"/>
            <a:ext cx="81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EEPROM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2MB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81225" y="1435200"/>
            <a:ext cx="70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FLASH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32MB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93363" y="1329212"/>
            <a:ext cx="88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QSPI(I/O(4), nCS, SCK )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681225" y="2121063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4"/>
          <p:cNvCxnSpPr>
            <a:stCxn id="99" idx="1"/>
          </p:cNvCxnSpPr>
          <p:nvPr/>
        </p:nvCxnSpPr>
        <p:spPr>
          <a:xfrm flipH="1">
            <a:off x="6197925" y="2298063"/>
            <a:ext cx="4833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4"/>
          <p:cNvCxnSpPr/>
          <p:nvPr/>
        </p:nvCxnSpPr>
        <p:spPr>
          <a:xfrm flipH="1">
            <a:off x="6393250" y="2271963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4"/>
          <p:cNvSpPr txBox="1"/>
          <p:nvPr/>
        </p:nvSpPr>
        <p:spPr>
          <a:xfrm>
            <a:off x="6210895" y="2078481"/>
            <a:ext cx="56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JTAG(5)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253869" y="2466447"/>
            <a:ext cx="56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USB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54750" y="2616625"/>
            <a:ext cx="75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USB(DM, DP)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105" name="Google Shape;105;p14"/>
          <p:cNvCxnSpPr/>
          <p:nvPr/>
        </p:nvCxnSpPr>
        <p:spPr>
          <a:xfrm flipH="1">
            <a:off x="6861625" y="2614796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/>
          <p:nvPr/>
        </p:nvCxnSpPr>
        <p:spPr>
          <a:xfrm flipH="1">
            <a:off x="6861625" y="3513550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4"/>
          <p:cNvSpPr txBox="1"/>
          <p:nvPr/>
        </p:nvSpPr>
        <p:spPr>
          <a:xfrm>
            <a:off x="6777275" y="2119037"/>
            <a:ext cx="70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JTAG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758850" y="3372852"/>
            <a:ext cx="70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GPIO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02875" y="4066175"/>
            <a:ext cx="2031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54025" y="4088475"/>
            <a:ext cx="198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POWER SUPPLY BLOCK</a:t>
            </a:r>
            <a:endParaRPr sz="100"/>
          </a:p>
        </p:txBody>
      </p:sp>
      <p:cxnSp>
        <p:nvCxnSpPr>
          <p:cNvPr id="111" name="Google Shape;111;p14"/>
          <p:cNvCxnSpPr>
            <a:stCxn id="63" idx="1"/>
          </p:cNvCxnSpPr>
          <p:nvPr/>
        </p:nvCxnSpPr>
        <p:spPr>
          <a:xfrm flipH="1">
            <a:off x="992675" y="1558025"/>
            <a:ext cx="710100" cy="252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 flipH="1" rot="10800000">
            <a:off x="2524850" y="3728900"/>
            <a:ext cx="2493600" cy="390600"/>
          </a:xfrm>
          <a:prstGeom prst="bentConnector3">
            <a:avLst>
              <a:gd fmla="val 100313" name="adj1"/>
            </a:avLst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4"/>
          <p:cNvCxnSpPr>
            <a:endCxn id="73" idx="1"/>
          </p:cNvCxnSpPr>
          <p:nvPr/>
        </p:nvCxnSpPr>
        <p:spPr>
          <a:xfrm rot="-5400000">
            <a:off x="1837575" y="3554863"/>
            <a:ext cx="603300" cy="432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4"/>
          <p:cNvCxnSpPr/>
          <p:nvPr/>
        </p:nvCxnSpPr>
        <p:spPr>
          <a:xfrm flipH="1">
            <a:off x="945850" y="2806150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4"/>
          <p:cNvCxnSpPr/>
          <p:nvPr/>
        </p:nvCxnSpPr>
        <p:spPr>
          <a:xfrm flipH="1">
            <a:off x="1879525" y="373577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4"/>
          <p:cNvCxnSpPr/>
          <p:nvPr/>
        </p:nvCxnSpPr>
        <p:spPr>
          <a:xfrm flipH="1">
            <a:off x="3634475" y="408042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4"/>
          <p:cNvSpPr txBox="1"/>
          <p:nvPr/>
        </p:nvSpPr>
        <p:spPr>
          <a:xfrm rot="-5400000">
            <a:off x="192300" y="2509050"/>
            <a:ext cx="14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LR1120  RF TRANSCEIVER VOLTAGE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151288" y="3846638"/>
            <a:ext cx="141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MCU </a:t>
            </a:r>
            <a:r>
              <a:rPr b="1" lang="en" sz="600">
                <a:solidFill>
                  <a:schemeClr val="dk2"/>
                </a:solidFill>
              </a:rPr>
              <a:t>SUPPLY(V_MCU)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329025" y="3321191"/>
            <a:ext cx="141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G</a:t>
            </a:r>
            <a:r>
              <a:rPr lang="en" sz="600">
                <a:solidFill>
                  <a:schemeClr val="dk2"/>
                </a:solidFill>
              </a:rPr>
              <a:t>PIO </a:t>
            </a:r>
            <a:r>
              <a:rPr lang="en" sz="600">
                <a:solidFill>
                  <a:schemeClr val="dk2"/>
                </a:solidFill>
              </a:rPr>
              <a:t>: BERGSTRIPS(20)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7724316" y="2925113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" name="Google Shape;121;p14"/>
          <p:cNvCxnSpPr/>
          <p:nvPr/>
        </p:nvCxnSpPr>
        <p:spPr>
          <a:xfrm flipH="1">
            <a:off x="6207816" y="3102113"/>
            <a:ext cx="15165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4"/>
          <p:cNvCxnSpPr/>
          <p:nvPr/>
        </p:nvCxnSpPr>
        <p:spPr>
          <a:xfrm flipH="1">
            <a:off x="6856041" y="3064459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4"/>
          <p:cNvSpPr txBox="1"/>
          <p:nvPr/>
        </p:nvSpPr>
        <p:spPr>
          <a:xfrm rot="-5400000">
            <a:off x="1091029" y="3281265"/>
            <a:ext cx="141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GPS SUPPLY(</a:t>
            </a:r>
            <a:r>
              <a:rPr b="1" lang="en" sz="600">
                <a:solidFill>
                  <a:schemeClr val="dk2"/>
                </a:solidFill>
              </a:rPr>
              <a:t>V_GPS)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885901" y="2933547"/>
            <a:ext cx="56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SPI </a:t>
            </a:r>
            <a:r>
              <a:rPr lang="en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6666025" y="3049638"/>
            <a:ext cx="75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SPI(4)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5085011" y="2620925"/>
            <a:ext cx="81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MCU</a:t>
            </a:r>
            <a:endParaRPr sz="100"/>
          </a:p>
        </p:txBody>
      </p:sp>
      <p:sp>
        <p:nvSpPr>
          <p:cNvPr id="127" name="Google Shape;127;p14"/>
          <p:cNvSpPr txBox="1"/>
          <p:nvPr/>
        </p:nvSpPr>
        <p:spPr>
          <a:xfrm>
            <a:off x="4814912" y="3005825"/>
            <a:ext cx="114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STM32WB55CG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CORTEX M4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WITH BLE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28" name="Google Shape;128;p14"/>
          <p:cNvCxnSpPr>
            <a:stCxn id="66" idx="3"/>
          </p:cNvCxnSpPr>
          <p:nvPr/>
        </p:nvCxnSpPr>
        <p:spPr>
          <a:xfrm flipH="1" rot="10800000">
            <a:off x="2461775" y="1856250"/>
            <a:ext cx="573300" cy="65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4"/>
          <p:cNvCxnSpPr/>
          <p:nvPr/>
        </p:nvCxnSpPr>
        <p:spPr>
          <a:xfrm flipH="1" rot="10800000">
            <a:off x="3035131" y="2122550"/>
            <a:ext cx="14598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4"/>
          <p:cNvCxnSpPr/>
          <p:nvPr/>
        </p:nvCxnSpPr>
        <p:spPr>
          <a:xfrm flipH="1">
            <a:off x="3634450" y="2098321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4"/>
          <p:cNvCxnSpPr/>
          <p:nvPr/>
        </p:nvCxnSpPr>
        <p:spPr>
          <a:xfrm flipH="1">
            <a:off x="2983200" y="2005571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4"/>
          <p:cNvSpPr txBox="1"/>
          <p:nvPr/>
        </p:nvSpPr>
        <p:spPr>
          <a:xfrm>
            <a:off x="2991172" y="1796971"/>
            <a:ext cx="70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32.867KHz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3540609" y="1901396"/>
            <a:ext cx="70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32.867KHz 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432925" y="3334028"/>
            <a:ext cx="759000" cy="4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4"/>
          <p:cNvCxnSpPr>
            <a:stCxn id="134" idx="3"/>
          </p:cNvCxnSpPr>
          <p:nvPr/>
        </p:nvCxnSpPr>
        <p:spPr>
          <a:xfrm flipH="1" rot="10800000">
            <a:off x="4191925" y="3566528"/>
            <a:ext cx="326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36" name="Google Shape;136;p14"/>
          <p:cNvSpPr txBox="1"/>
          <p:nvPr/>
        </p:nvSpPr>
        <p:spPr>
          <a:xfrm>
            <a:off x="4178876" y="3524371"/>
            <a:ext cx="3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APB1 BUS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 flipH="1">
            <a:off x="4309488" y="3531207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 txBox="1"/>
          <p:nvPr/>
        </p:nvSpPr>
        <p:spPr>
          <a:xfrm>
            <a:off x="3432925" y="3385513"/>
            <a:ext cx="75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WATCHDOG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TIMER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7724323" y="1992463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14"/>
          <p:cNvCxnSpPr>
            <a:endCxn id="139" idx="1"/>
          </p:cNvCxnSpPr>
          <p:nvPr/>
        </p:nvCxnSpPr>
        <p:spPr>
          <a:xfrm flipH="1" rot="10800000">
            <a:off x="6207823" y="2169463"/>
            <a:ext cx="1516500" cy="382800"/>
          </a:xfrm>
          <a:prstGeom prst="bentConnector3">
            <a:avLst>
              <a:gd fmla="val 9147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 txBox="1"/>
          <p:nvPr/>
        </p:nvSpPr>
        <p:spPr>
          <a:xfrm>
            <a:off x="7739625" y="1990356"/>
            <a:ext cx="7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UART DEBUGGING</a:t>
            </a:r>
            <a:r>
              <a:rPr lang="en" sz="700">
                <a:solidFill>
                  <a:schemeClr val="dk2"/>
                </a:solidFill>
              </a:rPr>
              <a:t> 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42" name="Google Shape;142;p14"/>
          <p:cNvCxnSpPr>
            <a:endCxn id="143" idx="2"/>
          </p:cNvCxnSpPr>
          <p:nvPr/>
        </p:nvCxnSpPr>
        <p:spPr>
          <a:xfrm flipH="1">
            <a:off x="1296147" y="1664488"/>
            <a:ext cx="406500" cy="327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4049" l="0" r="0" t="0"/>
          <a:stretch/>
        </p:blipFill>
        <p:spPr>
          <a:xfrm>
            <a:off x="1141122" y="2604813"/>
            <a:ext cx="276901" cy="282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4"/>
          <p:cNvCxnSpPr>
            <a:stCxn id="144" idx="2"/>
            <a:endCxn id="72" idx="0"/>
          </p:cNvCxnSpPr>
          <p:nvPr/>
        </p:nvCxnSpPr>
        <p:spPr>
          <a:xfrm flipH="1" rot="-5400000">
            <a:off x="1859622" y="2307736"/>
            <a:ext cx="295200" cy="14553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4049" l="0" r="0" t="0"/>
          <a:stretch/>
        </p:blipFill>
        <p:spPr>
          <a:xfrm rot="10800000">
            <a:off x="1157697" y="1992088"/>
            <a:ext cx="276901" cy="28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1327425" y="1804838"/>
            <a:ext cx="141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LR1120  RF ANTENNA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284130" y="2761694"/>
            <a:ext cx="141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GPS</a:t>
            </a:r>
            <a:r>
              <a:rPr b="1" lang="en" sz="600">
                <a:solidFill>
                  <a:schemeClr val="dk2"/>
                </a:solidFill>
              </a:rPr>
              <a:t> ANTENNA</a:t>
            </a:r>
            <a:endParaRPr b="1" sz="600">
              <a:solidFill>
                <a:schemeClr val="dk2"/>
              </a:solidFill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8559" y="2489232"/>
            <a:ext cx="573302" cy="32247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6344648" y="3962650"/>
            <a:ext cx="887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355425" y="4014056"/>
            <a:ext cx="88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IMU SENSOR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51" name="Google Shape;151;p14"/>
          <p:cNvCxnSpPr>
            <a:stCxn id="150" idx="1"/>
            <a:endCxn id="61" idx="2"/>
          </p:cNvCxnSpPr>
          <p:nvPr/>
        </p:nvCxnSpPr>
        <p:spPr>
          <a:xfrm rot="10800000">
            <a:off x="5357925" y="3725756"/>
            <a:ext cx="997500" cy="53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4"/>
          <p:cNvCxnSpPr/>
          <p:nvPr/>
        </p:nvCxnSpPr>
        <p:spPr>
          <a:xfrm rot="10800000">
            <a:off x="5495600" y="3725850"/>
            <a:ext cx="851700" cy="378000"/>
          </a:xfrm>
          <a:prstGeom prst="bentConnector3">
            <a:avLst>
              <a:gd fmla="val 991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4"/>
          <p:cNvCxnSpPr/>
          <p:nvPr/>
        </p:nvCxnSpPr>
        <p:spPr>
          <a:xfrm flipH="1">
            <a:off x="5778425" y="407582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4"/>
          <p:cNvCxnSpPr/>
          <p:nvPr/>
        </p:nvCxnSpPr>
        <p:spPr>
          <a:xfrm flipH="1">
            <a:off x="5778425" y="4226325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4"/>
          <p:cNvSpPr txBox="1"/>
          <p:nvPr/>
        </p:nvSpPr>
        <p:spPr>
          <a:xfrm>
            <a:off x="5673892" y="3876697"/>
            <a:ext cx="3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IRQ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651546" y="4216829"/>
            <a:ext cx="3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I2C</a:t>
            </a:r>
            <a:endParaRPr sz="600">
              <a:solidFill>
                <a:schemeClr val="dk2"/>
              </a:solidFill>
            </a:endParaRPr>
          </a:p>
        </p:txBody>
      </p:sp>
      <p:cxnSp>
        <p:nvCxnSpPr>
          <p:cNvPr id="157" name="Google Shape;157;p14"/>
          <p:cNvCxnSpPr/>
          <p:nvPr/>
        </p:nvCxnSpPr>
        <p:spPr>
          <a:xfrm flipH="1">
            <a:off x="8374480" y="4297972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4"/>
          <p:cNvSpPr/>
          <p:nvPr/>
        </p:nvSpPr>
        <p:spPr>
          <a:xfrm>
            <a:off x="7392450" y="3955147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7392450" y="4418651"/>
            <a:ext cx="7590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14"/>
          <p:cNvCxnSpPr>
            <a:endCxn id="158" idx="3"/>
          </p:cNvCxnSpPr>
          <p:nvPr/>
        </p:nvCxnSpPr>
        <p:spPr>
          <a:xfrm rot="5400000">
            <a:off x="8088750" y="3804847"/>
            <a:ext cx="390000" cy="26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4"/>
          <p:cNvCxnSpPr/>
          <p:nvPr/>
        </p:nvCxnSpPr>
        <p:spPr>
          <a:xfrm rot="5400000">
            <a:off x="8092403" y="4199939"/>
            <a:ext cx="390000" cy="26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4"/>
          <p:cNvSpPr txBox="1"/>
          <p:nvPr/>
        </p:nvSpPr>
        <p:spPr>
          <a:xfrm>
            <a:off x="7418850" y="3916018"/>
            <a:ext cx="7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HALL EFFECT</a:t>
            </a:r>
            <a:r>
              <a:rPr lang="en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7426679" y="4381597"/>
            <a:ext cx="7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USER BUTTON</a:t>
            </a:r>
            <a:endParaRPr sz="500">
              <a:solidFill>
                <a:schemeClr val="dk2"/>
              </a:solidFill>
            </a:endParaRPr>
          </a:p>
        </p:txBody>
      </p:sp>
      <p:cxnSp>
        <p:nvCxnSpPr>
          <p:cNvPr id="164" name="Google Shape;164;p14"/>
          <p:cNvCxnSpPr/>
          <p:nvPr/>
        </p:nvCxnSpPr>
        <p:spPr>
          <a:xfrm flipH="1">
            <a:off x="8370305" y="3910187"/>
            <a:ext cx="999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4"/>
          <p:cNvSpPr txBox="1"/>
          <p:nvPr/>
        </p:nvSpPr>
        <p:spPr>
          <a:xfrm rot="-5400000">
            <a:off x="8332848" y="3818475"/>
            <a:ext cx="40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GPIO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66" name="Google Shape;166;p14"/>
          <p:cNvSpPr txBox="1"/>
          <p:nvPr/>
        </p:nvSpPr>
        <p:spPr>
          <a:xfrm rot="-5400000">
            <a:off x="8328672" y="4197909"/>
            <a:ext cx="40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GPIO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RF transceiver - LR1120</a:t>
            </a:r>
            <a:endParaRPr/>
          </a:p>
        </p:txBody>
      </p:sp>
      <p:pic>
        <p:nvPicPr>
          <p:cNvPr id="172" name="Google Shape;1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575" y="1017725"/>
            <a:ext cx="5376375" cy="408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/>
          <p:cNvPicPr preferRelativeResize="0"/>
          <p:nvPr/>
        </p:nvPicPr>
        <p:blipFill rotWithShape="1">
          <a:blip r:embed="rId4">
            <a:alphaModFix/>
          </a:blip>
          <a:srcRect b="60346" l="0" r="30796" t="0"/>
          <a:stretch/>
        </p:blipFill>
        <p:spPr>
          <a:xfrm>
            <a:off x="423300" y="1134825"/>
            <a:ext cx="2610601" cy="7715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/>
          <p:nvPr/>
        </p:nvSpPr>
        <p:spPr>
          <a:xfrm>
            <a:off x="5537356" y="3464838"/>
            <a:ext cx="2610600" cy="84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7519325" y="3368600"/>
            <a:ext cx="580800" cy="116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5500425" y="336860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Unused</a:t>
            </a:r>
            <a:endParaRPr sz="700">
              <a:solidFill>
                <a:schemeClr val="dk2"/>
              </a:solidFill>
            </a:endParaRPr>
          </a:p>
        </p:txBody>
      </p:sp>
      <p:pic>
        <p:nvPicPr>
          <p:cNvPr id="177" name="Google Shape;1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724" y="4032425"/>
            <a:ext cx="3680825" cy="7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5850" y="3692374"/>
            <a:ext cx="2927875" cy="3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/>
          <p:nvPr/>
        </p:nvSpPr>
        <p:spPr>
          <a:xfrm>
            <a:off x="4518825" y="1017725"/>
            <a:ext cx="354600" cy="7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543450" y="1993600"/>
            <a:ext cx="237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CLOCK SOURCE - TCXO BLOCK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1" name="Google Shape;181;p15"/>
          <p:cNvSpPr txBox="1"/>
          <p:nvPr/>
        </p:nvSpPr>
        <p:spPr>
          <a:xfrm rot="-5400000">
            <a:off x="4273334" y="1196619"/>
            <a:ext cx="85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TCXO BLOCK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NODE MCU SELECTION</a:t>
            </a:r>
            <a:endParaRPr/>
          </a:p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311700" y="1152475"/>
            <a:ext cx="4687500" cy="37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STM32WB55CG: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Dual-core architecture</a:t>
            </a:r>
            <a:r>
              <a:rPr lang="en" sz="1100">
                <a:solidFill>
                  <a:schemeClr val="dk1"/>
                </a:solidFill>
              </a:rPr>
              <a:t>: Features an </a:t>
            </a:r>
            <a:r>
              <a:rPr b="1" lang="en" sz="1100">
                <a:solidFill>
                  <a:schemeClr val="dk1"/>
                </a:solidFill>
              </a:rPr>
              <a:t>Arm Cortex-M4 (application core)</a:t>
            </a:r>
            <a:r>
              <a:rPr lang="en" sz="1100">
                <a:solidFill>
                  <a:schemeClr val="dk1"/>
                </a:solidFill>
              </a:rPr>
              <a:t> + </a:t>
            </a:r>
            <a:r>
              <a:rPr b="1" lang="en" sz="1100">
                <a:solidFill>
                  <a:schemeClr val="dk1"/>
                </a:solidFill>
              </a:rPr>
              <a:t>Cortex-M0+ (network core)</a:t>
            </a:r>
            <a:r>
              <a:rPr lang="en" sz="1100">
                <a:solidFill>
                  <a:schemeClr val="dk1"/>
                </a:solidFill>
              </a:rPr>
              <a:t>, enabling clean separation between user app and wireless stack.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Built-in wireless</a:t>
            </a:r>
            <a:r>
              <a:rPr lang="en" sz="1100">
                <a:solidFill>
                  <a:schemeClr val="dk1"/>
                </a:solidFill>
              </a:rPr>
              <a:t>: Native support for </a:t>
            </a:r>
            <a:r>
              <a:rPr b="1" lang="en" sz="1100">
                <a:solidFill>
                  <a:schemeClr val="dk1"/>
                </a:solidFill>
              </a:rPr>
              <a:t>Bluetooth Low Energy (BLE 5.0/5.1)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IEEE 802.15.4</a:t>
            </a:r>
            <a:r>
              <a:rPr lang="en" sz="1100">
                <a:solidFill>
                  <a:schemeClr val="dk1"/>
                </a:solidFill>
              </a:rPr>
              <a:t> (Thread, Zigbee, proprietary).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Ultra-low power MCU</a:t>
            </a:r>
            <a:r>
              <a:rPr lang="en" sz="1100">
                <a:solidFill>
                  <a:schemeClr val="dk1"/>
                </a:solidFill>
              </a:rPr>
              <a:t>: Optimized for battery-powered IoT with multiple low-power modes and very low sleep current.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Rich peripherals</a:t>
            </a:r>
            <a:r>
              <a:rPr lang="en" sz="1100">
                <a:solidFill>
                  <a:schemeClr val="dk1"/>
                </a:solidFill>
              </a:rPr>
              <a:t>: Includes ADC, timers, SPI, I²C, USART, USB, RTC, DMA, and capacitive touch support.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Security features</a:t>
            </a:r>
            <a:r>
              <a:rPr lang="en" sz="1100">
                <a:solidFill>
                  <a:schemeClr val="dk1"/>
                </a:solidFill>
              </a:rPr>
              <a:t>: Hardware cryptography (AES, PKA), secure boot, firmware upgrade, and TrustZone-like isolation via dual core.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Ideal for IoT nodes</a:t>
            </a:r>
            <a:r>
              <a:rPr lang="en" sz="1100">
                <a:solidFill>
                  <a:schemeClr val="dk1"/>
                </a:solidFill>
              </a:rPr>
              <a:t>: Widely used in </a:t>
            </a:r>
            <a:r>
              <a:rPr b="1" lang="en" sz="1100">
                <a:solidFill>
                  <a:schemeClr val="dk1"/>
                </a:solidFill>
              </a:rPr>
              <a:t>smart sensors, wearables, beacons, home automation, and industrial wireless nodes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200" y="376050"/>
            <a:ext cx="3415249" cy="439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 Transceiver, GPS, BLE 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3090000" y="1187300"/>
            <a:ext cx="296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GPS : Quectel L89</a:t>
            </a:r>
            <a:endParaRPr/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Multi-constellation GNSS</a:t>
            </a:r>
            <a:r>
              <a:rPr lang="en" sz="1100">
                <a:solidFill>
                  <a:schemeClr val="dk1"/>
                </a:solidFill>
              </a:rPr>
              <a:t>: Supports </a:t>
            </a:r>
            <a:r>
              <a:rPr b="1" lang="en" sz="1100">
                <a:solidFill>
                  <a:schemeClr val="dk1"/>
                </a:solidFill>
              </a:rPr>
              <a:t>NavIC (IRNSS)</a:t>
            </a:r>
            <a:r>
              <a:rPr lang="en" sz="1100">
                <a:solidFill>
                  <a:schemeClr val="dk1"/>
                </a:solidFill>
              </a:rPr>
              <a:t> along with GPS, GLONASS, Galileo, and QZSS for improved positioning accuracy in India.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Low power operation</a:t>
            </a:r>
            <a:r>
              <a:rPr lang="en" sz="1100">
                <a:solidFill>
                  <a:schemeClr val="dk1"/>
                </a:solidFill>
              </a:rPr>
              <a:t>: Optimized for battery-powered IoT devices with low tracking and acquisition power consumption and standby modes.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Simple host interface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b="1" lang="en" sz="1100">
                <a:solidFill>
                  <a:schemeClr val="dk1"/>
                </a:solidFill>
              </a:rPr>
              <a:t>UART interface</a:t>
            </a:r>
            <a:r>
              <a:rPr lang="en" sz="1100">
                <a:solidFill>
                  <a:schemeClr val="dk1"/>
                </a:solidFill>
              </a:rPr>
              <a:t> with standard NMEA output, enabling easy integration with STM32-class microcontrollers.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Fast and accurate fixes</a:t>
            </a:r>
            <a:r>
              <a:rPr lang="en" sz="1100">
                <a:solidFill>
                  <a:schemeClr val="dk1"/>
                </a:solidFill>
              </a:rPr>
              <a:t>: High-sensitivity receiver with quick TTFF (Time-To-First-Fix) and stable performance in weak-signal environments.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138900" y="1187300"/>
            <a:ext cx="29640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 Transceiver : LR1120</a:t>
            </a:r>
            <a:endParaRPr/>
          </a:p>
          <a:p>
            <a:pPr indent="-28976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43">
                <a:solidFill>
                  <a:schemeClr val="dk1"/>
                </a:solidFill>
              </a:rPr>
              <a:t>Multi-band LoRa® transceiver</a:t>
            </a:r>
            <a:r>
              <a:rPr lang="en" sz="1243">
                <a:solidFill>
                  <a:schemeClr val="dk1"/>
                </a:solidFill>
              </a:rPr>
              <a:t>: Supports sub-GHz and 2.4 GHz </a:t>
            </a:r>
            <a:r>
              <a:rPr b="1" lang="en" sz="1243">
                <a:solidFill>
                  <a:schemeClr val="dk1"/>
                </a:solidFill>
              </a:rPr>
              <a:t>LoRa® RX/TX</a:t>
            </a:r>
            <a:r>
              <a:rPr lang="en" sz="1243">
                <a:solidFill>
                  <a:schemeClr val="dk1"/>
                </a:solidFill>
              </a:rPr>
              <a:t> with ultra-low power operation, ideal for long-range, battery-powered IoT nodes.</a:t>
            </a:r>
            <a:endParaRPr sz="1243">
              <a:solidFill>
                <a:schemeClr val="dk1"/>
              </a:solidFill>
            </a:endParaRPr>
          </a:p>
          <a:p>
            <a:pPr indent="-28976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43">
                <a:solidFill>
                  <a:schemeClr val="dk1"/>
                </a:solidFill>
              </a:rPr>
              <a:t>LR-FHSS uplink support</a:t>
            </a:r>
            <a:r>
              <a:rPr lang="en" sz="1243">
                <a:solidFill>
                  <a:schemeClr val="dk1"/>
                </a:solidFill>
              </a:rPr>
              <a:t>: Enables </a:t>
            </a:r>
            <a:r>
              <a:rPr b="1" lang="en" sz="1243">
                <a:solidFill>
                  <a:schemeClr val="dk1"/>
                </a:solidFill>
              </a:rPr>
              <a:t>Long Range – Frequency Hopping Spread Spectrum</a:t>
            </a:r>
            <a:r>
              <a:rPr lang="en" sz="1243">
                <a:solidFill>
                  <a:schemeClr val="dk1"/>
                </a:solidFill>
              </a:rPr>
              <a:t> for massive-scale networks, high capacity, and improved interference robustness.</a:t>
            </a:r>
            <a:endParaRPr sz="1243">
              <a:solidFill>
                <a:schemeClr val="dk1"/>
              </a:solidFill>
            </a:endParaRPr>
          </a:p>
          <a:p>
            <a:pPr indent="-28976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43">
                <a:solidFill>
                  <a:schemeClr val="dk1"/>
                </a:solidFill>
              </a:rPr>
              <a:t>Energy-efficient design</a:t>
            </a:r>
            <a:r>
              <a:rPr lang="en" sz="1243">
                <a:solidFill>
                  <a:schemeClr val="dk1"/>
                </a:solidFill>
              </a:rPr>
              <a:t>: Very low RX current consumption with deep sleep modes, optimized for multi-year battery life in IoT deployments.</a:t>
            </a:r>
            <a:endParaRPr sz="1243">
              <a:solidFill>
                <a:schemeClr val="dk1"/>
              </a:solidFill>
            </a:endParaRPr>
          </a:p>
          <a:p>
            <a:pPr indent="-28976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243">
                <a:solidFill>
                  <a:schemeClr val="dk1"/>
                </a:solidFill>
              </a:rPr>
              <a:t>Advanced features for NTN &amp; mobility</a:t>
            </a:r>
            <a:r>
              <a:rPr lang="en" sz="1243">
                <a:solidFill>
                  <a:schemeClr val="dk1"/>
                </a:solidFill>
              </a:rPr>
              <a:t>: Supports Doppler tolerance, fine timestamping, and scalable data rates, making it suitable for </a:t>
            </a:r>
            <a:r>
              <a:rPr b="1" lang="en" sz="1243">
                <a:solidFill>
                  <a:schemeClr val="dk1"/>
                </a:solidFill>
              </a:rPr>
              <a:t>LEO satellite (NTN) LoRaWAN</a:t>
            </a:r>
            <a:r>
              <a:rPr lang="en" sz="1243">
                <a:solidFill>
                  <a:schemeClr val="dk1"/>
                </a:solidFill>
              </a:rPr>
              <a:t> use cases. </a:t>
            </a:r>
            <a:endParaRPr sz="1243">
              <a:solidFill>
                <a:schemeClr val="dk1"/>
              </a:solidFill>
            </a:endParaRPr>
          </a:p>
          <a:p>
            <a:pPr indent="-28976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43">
                <a:solidFill>
                  <a:schemeClr val="dk1"/>
                </a:solidFill>
              </a:rPr>
              <a:t>Tx power consumption can further  be controlled using p</a:t>
            </a:r>
            <a:r>
              <a:rPr lang="en" sz="1243">
                <a:solidFill>
                  <a:schemeClr val="dk1"/>
                </a:solidFill>
              </a:rPr>
              <a:t>eriodic uplinks and deep sleep with aid of LoRaWAN class B </a:t>
            </a:r>
            <a:endParaRPr/>
          </a:p>
        </p:txBody>
      </p:sp>
      <p:sp>
        <p:nvSpPr>
          <p:cNvPr id="196" name="Google Shape;196;p17"/>
          <p:cNvSpPr txBox="1"/>
          <p:nvPr>
            <p:ph idx="1" type="body"/>
          </p:nvPr>
        </p:nvSpPr>
        <p:spPr>
          <a:xfrm>
            <a:off x="5868275" y="1187300"/>
            <a:ext cx="296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BLE : ST32WB55CG INBUILT</a:t>
            </a:r>
            <a:endParaRPr/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Dedicated BLE core</a:t>
            </a:r>
            <a:r>
              <a:rPr lang="en" sz="1100">
                <a:solidFill>
                  <a:schemeClr val="dk1"/>
                </a:solidFill>
              </a:rPr>
              <a:t>: BLE runs on a </a:t>
            </a:r>
            <a:r>
              <a:rPr b="1" lang="en" sz="1100">
                <a:solidFill>
                  <a:schemeClr val="dk1"/>
                </a:solidFill>
              </a:rPr>
              <a:t>separate Cortex-M0+ network core</a:t>
            </a:r>
            <a:r>
              <a:rPr lang="en" sz="1100">
                <a:solidFill>
                  <a:schemeClr val="dk1"/>
                </a:solidFill>
              </a:rPr>
              <a:t>, keeping the Cortex-M4 free for application tasks (no RTOS conflicts).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BLE 5.x compliant</a:t>
            </a:r>
            <a:r>
              <a:rPr lang="en" sz="1100">
                <a:solidFill>
                  <a:schemeClr val="dk1"/>
                </a:solidFill>
              </a:rPr>
              <a:t>: Supports </a:t>
            </a:r>
            <a:r>
              <a:rPr b="1" lang="en" sz="1100">
                <a:solidFill>
                  <a:schemeClr val="dk1"/>
                </a:solidFill>
              </a:rPr>
              <a:t>Bluetooth Low Energy 5.0/5.1</a:t>
            </a:r>
            <a:r>
              <a:rPr lang="en" sz="1100">
                <a:solidFill>
                  <a:schemeClr val="dk1"/>
                </a:solidFill>
              </a:rPr>
              <a:t> features like extended advertising, higher data rate, and improved range.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Pre-certified BLE stack</a:t>
            </a:r>
            <a:r>
              <a:rPr lang="en" sz="1100">
                <a:solidFill>
                  <a:schemeClr val="dk1"/>
                </a:solidFill>
              </a:rPr>
              <a:t>: Comes with </a:t>
            </a:r>
            <a:r>
              <a:rPr b="1" lang="en" sz="1100">
                <a:solidFill>
                  <a:schemeClr val="dk1"/>
                </a:solidFill>
              </a:rPr>
              <a:t>ST-provided, qualified BLE stack</a:t>
            </a:r>
            <a:r>
              <a:rPr lang="en" sz="1100">
                <a:solidFill>
                  <a:schemeClr val="dk1"/>
                </a:solidFill>
              </a:rPr>
              <a:t>, reducing certification effort and time-to-market.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Low-power BLE operation</a:t>
            </a:r>
            <a:r>
              <a:rPr lang="en" sz="1100">
                <a:solidFill>
                  <a:schemeClr val="dk1"/>
                </a:solidFill>
              </a:rPr>
              <a:t>: Optimized radio and sleep modes enable </a:t>
            </a:r>
            <a:r>
              <a:rPr b="1" lang="en" sz="1100">
                <a:solidFill>
                  <a:schemeClr val="dk1"/>
                </a:solidFill>
              </a:rPr>
              <a:t>very low current consumption</a:t>
            </a:r>
            <a:r>
              <a:rPr lang="en" sz="1100">
                <a:solidFill>
                  <a:schemeClr val="dk1"/>
                </a:solidFill>
              </a:rPr>
              <a:t>, ideal for battery-powered IoT nodes.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Secure wireless communication</a:t>
            </a:r>
            <a:r>
              <a:rPr lang="en" sz="1100">
                <a:solidFill>
                  <a:schemeClr val="dk1"/>
                </a:solidFill>
              </a:rPr>
              <a:t>: Hardware-based </a:t>
            </a:r>
            <a:r>
              <a:rPr b="1" lang="en" sz="1100">
                <a:solidFill>
                  <a:schemeClr val="dk1"/>
                </a:solidFill>
              </a:rPr>
              <a:t>AES encryption, pairing, bonding</a:t>
            </a:r>
            <a:r>
              <a:rPr lang="en" sz="1100">
                <a:solidFill>
                  <a:schemeClr val="dk1"/>
                </a:solidFill>
              </a:rPr>
              <a:t>, and secure firmware update over BLE.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Consumption and Battery</a:t>
            </a:r>
            <a:endParaRPr/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 b="43883" l="12257" r="16396" t="21953"/>
          <a:stretch/>
        </p:blipFill>
        <p:spPr>
          <a:xfrm>
            <a:off x="349488" y="1281950"/>
            <a:ext cx="8445024" cy="286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MECHANICALS AND FITMENT</a:t>
            </a:r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 b="17318" l="5248" r="24679" t="21422"/>
          <a:stretch/>
        </p:blipFill>
        <p:spPr>
          <a:xfrm>
            <a:off x="508875" y="1017725"/>
            <a:ext cx="7943774" cy="390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